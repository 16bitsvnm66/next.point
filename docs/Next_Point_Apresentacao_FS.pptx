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6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65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· UFCD 5425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3172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Point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29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virtual de artigos de padel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Flávio Saldanha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web em Flask + SQLite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778240" y="2148840"/>
            <a:ext cx="2560320" cy="2560320"/>
          </a:xfrm>
          <a:prstGeom prst="ellipse">
            <a:avLst/>
          </a:prstGeom>
          <a:solidFill>
            <a:srgbClr val="0B5943"/>
          </a:solidFill>
          <a:ln/>
        </p:spPr>
      </p:sp>
      <p:pic>
        <p:nvPicPr>
          <p:cNvPr id="8" name="Image 0" descr="icons/solu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2717" y="2763317"/>
            <a:ext cx="1331366" cy="13313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loja geria tudo pelo WhatsApp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6309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0"/>
              </a:spcAft>
              <a:buSzPct val="100000"/>
              <a:buChar char="▪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catálogo organizado — os clientes perguntam, produto a produto, se algo está disponível.</a:t>
            </a:r>
            <a:endParaRPr lang="en-US" sz="1550" dirty="0"/>
          </a:p>
          <a:p>
            <a:pPr marL="228600" indent="-228600">
              <a:spcAft>
                <a:spcPts val="2000"/>
              </a:spcAft>
              <a:buSzPct val="100000"/>
              <a:buChar char="▪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controlo de stock — risco real de vender artigos que já não existem em armazém.</a:t>
            </a:r>
            <a:endParaRPr lang="en-US" sz="1550" dirty="0"/>
          </a:p>
          <a:p>
            <a:pPr marL="228600" indent="-228600">
              <a:spcAft>
                <a:spcPts val="2000"/>
              </a:spcAft>
              <a:buSzPct val="100000"/>
              <a:buChar char="▪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registo de encomendas — todo o histórico depende da memória do lojista.</a:t>
            </a:r>
            <a:endParaRPr lang="en-US" sz="1550" dirty="0"/>
          </a:p>
          <a:p>
            <a:pPr marL="228600" indent="-228600">
              <a:spcAft>
                <a:spcPts val="2000"/>
              </a:spcAft>
              <a:buSzPct val="100000"/>
              <a:buChar char="▪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forma de o cliente comprar sem trocar mensagens manualmente.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589520" y="1920240"/>
            <a:ext cx="3977640" cy="4114800"/>
          </a:xfrm>
          <a:prstGeom prst="roundRect">
            <a:avLst>
              <a:gd name="adj" fmla="val 2299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42248" y="2514600"/>
            <a:ext cx="1463040" cy="146304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7" name="Image 0" descr="icons/whatsapp_li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3378" y="2865730"/>
            <a:ext cx="760781" cy="76078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909560" y="425196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B5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“Os clientes perguntam um a um, por mensagem, se um produto está disponível.”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Point: uma loja virtual completa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6309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0"/>
              </a:spcAft>
              <a:buSzPct val="100000"/>
              <a:buChar char="▪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online, sempre atualizado, com fotos, filtros e stock em tempo real.</a:t>
            </a:r>
            <a:endParaRPr lang="en-US" sz="1550" dirty="0"/>
          </a:p>
          <a:p>
            <a:pPr marL="228600" indent="-228600">
              <a:spcAft>
                <a:spcPts val="2000"/>
              </a:spcAft>
              <a:buSzPct val="100000"/>
              <a:buChar char="▪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Carrinho de compras e checkout — o cliente compra sozinho, sem trocar mensagens.</a:t>
            </a:r>
            <a:endParaRPr lang="en-US" sz="1550" dirty="0"/>
          </a:p>
          <a:p>
            <a:pPr marL="228600" indent="-228600">
              <a:spcAft>
                <a:spcPts val="2000"/>
              </a:spcAft>
              <a:buSzPct val="100000"/>
              <a:buChar char="▪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administração para o lojista gerir produtos, categorias e encomendas.</a:t>
            </a:r>
            <a:endParaRPr lang="en-US" sz="1550" dirty="0"/>
          </a:p>
          <a:p>
            <a:pPr marL="228600" indent="-228600">
              <a:spcAft>
                <a:spcPts val="2000"/>
              </a:spcAft>
              <a:buSzPct val="100000"/>
              <a:buChar char="▪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de receita e produtos mais vendidos, num único sistema.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589520" y="1920240"/>
            <a:ext cx="3977640" cy="411480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42248" y="2514600"/>
            <a:ext cx="1463040" cy="1463040"/>
          </a:xfrm>
          <a:prstGeom prst="ellipse">
            <a:avLst/>
          </a:prstGeom>
          <a:solidFill>
            <a:srgbClr val="FFC65C"/>
          </a:solidFill>
          <a:ln/>
        </p:spPr>
      </p:sp>
      <p:pic>
        <p:nvPicPr>
          <p:cNvPr id="7" name="Image 0" descr="icons/solucao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3378" y="2865730"/>
            <a:ext cx="760781" cy="76078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909560" y="425196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problema real à solução em produção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TÉCNICA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tecnologia mudou a meio do percurso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74920" cy="3794760"/>
          </a:xfrm>
          <a:prstGeom prst="roundRect">
            <a:avLst>
              <a:gd name="adj" fmla="val 2410"/>
            </a:avLst>
          </a:prstGeom>
          <a:solidFill>
            <a:srgbClr val="F4F3E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103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 INICIAL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1460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— aplicação de secretária (desktop)</a:t>
            </a:r>
            <a:endParaRPr lang="en-US" sz="14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phpMyAdmin</a:t>
            </a:r>
            <a:endParaRPr lang="en-US" sz="14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mysql-connector-python</a:t>
            </a:r>
            <a:endParaRPr lang="en-US" sz="14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corre no computador do lojista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32120" y="3337560"/>
            <a:ext cx="1051560" cy="1051560"/>
          </a:xfrm>
          <a:prstGeom prst="ellipse">
            <a:avLst/>
          </a:prstGeom>
          <a:solidFill>
            <a:srgbClr val="FFC65C"/>
          </a:solidFill>
          <a:ln/>
        </p:spPr>
      </p:sp>
      <p:pic>
        <p:nvPicPr>
          <p:cNvPr id="8" name="Image 0" descr="icons/pivo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5010" y="3600450"/>
            <a:ext cx="525780" cy="5257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766560" y="1874520"/>
            <a:ext cx="4800600" cy="3794760"/>
          </a:xfrm>
          <a:prstGeom prst="roundRect">
            <a:avLst>
              <a:gd name="adj" fmla="val 2410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086600" y="2103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C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FINAL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086600" y="251460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— aplicação web, em Python 3</a:t>
            </a:r>
            <a:endParaRPr lang="en-US" sz="14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(biblioteca padrão do Python)</a:t>
            </a:r>
            <a:endParaRPr lang="en-US" sz="14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servidor de base de dados dedicado</a:t>
            </a:r>
            <a:endParaRPr lang="en-US" sz="14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Acessível a partir de qualquer browser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mudança para Flask + SQLite + Python 3 resultou numa solução mais leve e verdadeiramente acessível a partir de qualquer dispositivo com browser — o que a versão desktop nunca permitiria.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Tecnologias utilizadas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13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54580"/>
            <a:ext cx="914400" cy="91440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6" name="Image 0" descr="icons/python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5603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2286000"/>
            <a:ext cx="190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965960" y="2670048"/>
            <a:ext cx="190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base, POO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73880" y="2011680"/>
            <a:ext cx="3413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8200" y="2354580"/>
            <a:ext cx="914400" cy="91440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1" name="Image 1" descr="icons/flas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940" y="25603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99760" y="2286000"/>
            <a:ext cx="190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699760" y="2670048"/>
            <a:ext cx="190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web (rotas, blueprints)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7680" y="2011680"/>
            <a:ext cx="3413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82000" y="2354580"/>
            <a:ext cx="914400" cy="91440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6" name="Image 2" descr="icons/sqlit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7740" y="256032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433560" y="2286000"/>
            <a:ext cx="190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433560" y="2670048"/>
            <a:ext cx="190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 (sqlite3)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977640"/>
            <a:ext cx="3413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320540"/>
            <a:ext cx="914400" cy="91440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21" name="Image 3" descr="icons/jinja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" y="452628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965960" y="4251960"/>
            <a:ext cx="190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Jinja2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1965960" y="4636008"/>
            <a:ext cx="190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templates HTML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73880" y="3977640"/>
            <a:ext cx="3413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48200" y="4320540"/>
            <a:ext cx="914400" cy="91440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26" name="Image 4" descr="icons/bootstrap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3940" y="452628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699760" y="4251960"/>
            <a:ext cx="190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 5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5699760" y="4636008"/>
            <a:ext cx="190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 estilo responsivo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07680" y="3977640"/>
            <a:ext cx="3413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82000" y="4320540"/>
            <a:ext cx="914400" cy="91440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31" name="Image 5" descr="icons/git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7740" y="4526280"/>
            <a:ext cx="502920" cy="5029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433560" y="4251960"/>
            <a:ext cx="190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9433560" y="4636008"/>
            <a:ext cx="190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Controlo de versões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CÓDIGO ESTÁ ORGANIZADO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em camadas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015338" cy="2834640"/>
          </a:xfrm>
          <a:prstGeom prst="roundRect">
            <a:avLst>
              <a:gd name="adj" fmla="val 4537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59129" y="2651760"/>
            <a:ext cx="777240" cy="77724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6" name="Image 0" descr="icons/dados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4008" y="2826639"/>
            <a:ext cx="427482" cy="42748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3611880"/>
            <a:ext cx="17958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database.py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4114800"/>
            <a:ext cx="16861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Ligação SQLite e esquema das tabelas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2655418" y="3456432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856586" y="2331720"/>
            <a:ext cx="2015338" cy="2834640"/>
          </a:xfrm>
          <a:prstGeom prst="roundRect">
            <a:avLst>
              <a:gd name="adj" fmla="val 4537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5634" y="2651760"/>
            <a:ext cx="777240" cy="77724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2" name="Image 1" descr="icons/requisitos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513" y="2826639"/>
            <a:ext cx="427482" cy="42748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66314" y="3611880"/>
            <a:ext cx="17958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models.py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3021178" y="4114800"/>
            <a:ext cx="16861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de dados e exceções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4871923" y="3456432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5073091" y="2331720"/>
            <a:ext cx="2015338" cy="2834640"/>
          </a:xfrm>
          <a:prstGeom prst="roundRect">
            <a:avLst>
              <a:gd name="adj" fmla="val 4537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692140" y="2651760"/>
            <a:ext cx="777240" cy="77724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8" name="Image 2" descr="icons/arquitetura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019" y="2826639"/>
            <a:ext cx="427482" cy="42748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182819" y="3611880"/>
            <a:ext cx="17958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gestor.py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5237683" y="4114800"/>
            <a:ext cx="16861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 (CRUD, stock)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7088429" y="3456432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7289597" y="2331720"/>
            <a:ext cx="2015338" cy="2834640"/>
          </a:xfrm>
          <a:prstGeom prst="roundRect">
            <a:avLst>
              <a:gd name="adj" fmla="val 4537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908646" y="2651760"/>
            <a:ext cx="777240" cy="77724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24" name="Image 3" descr="icons/admin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525" y="2826639"/>
            <a:ext cx="427482" cy="42748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399325" y="3611880"/>
            <a:ext cx="17958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blueprints/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7454189" y="4114800"/>
            <a:ext cx="16861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— loja e administração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9304934" y="3456432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9506102" y="2331720"/>
            <a:ext cx="2015338" cy="2834640"/>
          </a:xfrm>
          <a:prstGeom prst="roundRect">
            <a:avLst>
              <a:gd name="adj" fmla="val 4537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125151" y="2651760"/>
            <a:ext cx="777240" cy="77724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30" name="Image 4" descr="icons/pesquisa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0030" y="2826639"/>
            <a:ext cx="427482" cy="42748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615830" y="3611880"/>
            <a:ext cx="17958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templates/</a:t>
            </a:r>
            <a:endParaRPr lang="en-US" sz="1350" dirty="0"/>
          </a:p>
        </p:txBody>
      </p:sp>
      <p:sp>
        <p:nvSpPr>
          <p:cNvPr id="32" name="Text 25"/>
          <p:cNvSpPr txBox="1"/>
          <p:nvPr/>
        </p:nvSpPr>
        <p:spPr>
          <a:xfrm>
            <a:off x="9670694" y="4114800"/>
            <a:ext cx="16861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HTML (Jinja2)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rotas nunca escrevem SQL diretamente — falam sempre com gestor.py, que fala com database.py.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LADO DO CLIENTE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 — Cliente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77440"/>
            <a:ext cx="960120" cy="96012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6" name="Image 0" descr="icons/pesquis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4829" y="2607869"/>
            <a:ext cx="499262" cy="4992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57400" y="225856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com filtros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2057400" y="26974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categoria, tamanho e pesquisa por nome.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96596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377440"/>
            <a:ext cx="960120" cy="96012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11" name="Image 1" descr="icons/produt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389" y="2607869"/>
            <a:ext cx="499262" cy="49926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80960" y="225856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Ficha de produto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7680960" y="26974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Fotos, descrição, preço e stock disponível.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526280"/>
            <a:ext cx="960120" cy="96012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16" name="Image 2" descr="icons/carrinh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829" y="4756709"/>
            <a:ext cx="499262" cy="49926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057400" y="440740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Carrinho de compras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2057400" y="48463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Guardado na sessão do browser, sem conta necessária.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411480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526280"/>
            <a:ext cx="960120" cy="96012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21" name="Image 3" descr="icons/encomenda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389" y="4756709"/>
            <a:ext cx="499262" cy="49926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680960" y="440740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 e acompanhamento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7680960" y="48463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imediata e estado da encomenda.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LADO DO LOJISTA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 — Administração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66544"/>
            <a:ext cx="749808" cy="749808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5" name="Image 0" descr="icons/produ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034" y="2246498"/>
            <a:ext cx="389900" cy="389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2011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de produtos e categorias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46520" y="20116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Criar, editar e remover, com upload de foto.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948940"/>
            <a:ext cx="10881360" cy="0"/>
          </a:xfrm>
          <a:prstGeom prst="line">
            <a:avLst/>
          </a:prstGeom>
          <a:noFill/>
          <a:ln w="12700">
            <a:solidFill>
              <a:srgbClr val="E4E2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3072384"/>
            <a:ext cx="749808" cy="749808"/>
          </a:xfrm>
          <a:prstGeom prst="ellipse">
            <a:avLst/>
          </a:prstGeom>
          <a:solidFill>
            <a:srgbClr val="FFC65C"/>
          </a:solidFill>
          <a:ln/>
        </p:spPr>
      </p:sp>
      <p:pic>
        <p:nvPicPr>
          <p:cNvPr id="10" name="Image 1" descr="icons/admin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034" y="3252338"/>
            <a:ext cx="389900" cy="389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91640" y="30175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de encomendas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446520" y="301752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estado, cancelar com reposição automática de stock.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954780"/>
            <a:ext cx="10881360" cy="0"/>
          </a:xfrm>
          <a:prstGeom prst="line">
            <a:avLst/>
          </a:prstGeom>
          <a:noFill/>
          <a:ln w="12700">
            <a:solidFill>
              <a:srgbClr val="E4E2D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4078224"/>
            <a:ext cx="749808" cy="749808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15" name="Image 2" descr="icons/seguranc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34" y="4258178"/>
            <a:ext cx="389900" cy="389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40233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de clientes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446520" y="40233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todos os clientes registados.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40080" y="4960620"/>
            <a:ext cx="10881360" cy="0"/>
          </a:xfrm>
          <a:prstGeom prst="line">
            <a:avLst/>
          </a:prstGeom>
          <a:noFill/>
          <a:ln w="12700">
            <a:solidFill>
              <a:srgbClr val="E4E2D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5084064"/>
            <a:ext cx="749808" cy="749808"/>
          </a:xfrm>
          <a:prstGeom prst="ellipse">
            <a:avLst/>
          </a:prstGeom>
          <a:solidFill>
            <a:srgbClr val="FFC65C"/>
          </a:solidFill>
          <a:ln/>
        </p:spPr>
      </p:sp>
      <p:pic>
        <p:nvPicPr>
          <p:cNvPr id="20" name="Image 3" descr="icons/relatorios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034" y="5264018"/>
            <a:ext cx="389900" cy="389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50292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Relatórios e exportação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46520" y="502920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total, produtos mais vendidos e exportação em CSV.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1965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194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4203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nome,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telefone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977640" y="2103120"/>
            <a:ext cx="1965960" cy="1097280"/>
          </a:xfrm>
          <a:prstGeom prst="roundRect">
            <a:avLst>
              <a:gd name="adj" fmla="val 8333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114800" y="2194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Encomenda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54203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cliente_id,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total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132320" y="2103120"/>
            <a:ext cx="1965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269480" y="2194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 Encomenda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54203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encomenda_id,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produto_id, qtd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977640" y="4114800"/>
            <a:ext cx="1965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114800" y="4206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455371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nome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132320" y="4114800"/>
            <a:ext cx="1965960" cy="1097280"/>
          </a:xfrm>
          <a:prstGeom prst="roundRect">
            <a:avLst>
              <a:gd name="adj" fmla="val 8333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269480" y="4206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455371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nome, preço,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imagem_url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2788920" y="239572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2788920" y="21214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239572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21214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440740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41330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7818120" y="32004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522208" y="34564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cliente pode ter várias encomendas; cada encomenda tem várias linhas (itens); cada item refere um produto, que pertence a uma categoria.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ÁGIL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Simulação de Scrum — 5 sprints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28700" y="2994660"/>
            <a:ext cx="10104120" cy="0"/>
          </a:xfrm>
          <a:prstGeom prst="line">
            <a:avLst/>
          </a:prstGeom>
          <a:noFill/>
          <a:ln w="38100">
            <a:solidFill>
              <a:srgbClr val="E1F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606040"/>
            <a:ext cx="777240" cy="7772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606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7160" y="35204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ambiente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66110" y="2606040"/>
            <a:ext cx="777240" cy="777240"/>
          </a:xfrm>
          <a:prstGeom prst="ellipse">
            <a:avLst/>
          </a:prstGeom>
          <a:solidFill>
            <a:srgbClr val="FFC6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166110" y="2606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59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663190" y="35204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92140" y="2606040"/>
            <a:ext cx="777240" cy="7772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92140" y="2606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189220" y="35204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Carrinho 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encomendas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18170" y="2606040"/>
            <a:ext cx="777240" cy="777240"/>
          </a:xfrm>
          <a:prstGeom prst="ellipse">
            <a:avLst/>
          </a:prstGeom>
          <a:solidFill>
            <a:srgbClr val="FFC6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18170" y="2606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59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715250" y="35204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Administração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744200" y="2606040"/>
            <a:ext cx="777240" cy="7772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744200" y="2606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0" y="35204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estilização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926080" y="4846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2926080" y="56509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no Product Backlog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4846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8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56509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tarefas concluídas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automáticos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188720" cy="118872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5" name="Image 0" descr="icons/tes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2251253"/>
            <a:ext cx="618134" cy="6181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57400" y="1965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5200" dirty="0"/>
          </a:p>
        </p:txBody>
      </p:sp>
      <p:sp>
        <p:nvSpPr>
          <p:cNvPr id="7" name="Text 4"/>
          <p:cNvSpPr txBox="1"/>
          <p:nvPr/>
        </p:nvSpPr>
        <p:spPr>
          <a:xfrm>
            <a:off x="2057400" y="2788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automáticos — todos a passar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7947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0080" y="397764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8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663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unitários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0292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Validações dos modelos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43400" y="37947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343400" y="397764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8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4663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de integração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26280" y="50292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 e stock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46720" y="37947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046720" y="397764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8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4663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de rotas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50292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completo via Flask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trabalho futuro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77440"/>
            <a:ext cx="960120" cy="96012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6" name="Image 0" descr="icons/seguran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4829" y="2607869"/>
            <a:ext cx="499262" cy="4992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57400" y="225856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9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Autenticação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2057400" y="26974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para proteger a área de administração.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96596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377440"/>
            <a:ext cx="960120" cy="96012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11" name="Image 1" descr="icons/pagamen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389" y="2607869"/>
            <a:ext cx="499262" cy="49926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80960" y="225856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9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Pagamento online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7680960" y="26974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MB WAY ou Stripe.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526280"/>
            <a:ext cx="960120" cy="96012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16" name="Image 2" descr="icons/fornecedor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829" y="4756709"/>
            <a:ext cx="499262" cy="49926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057400" y="440740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9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de fornecedores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2057400" y="48463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APIs de faturação.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411480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526280"/>
            <a:ext cx="960120" cy="96012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21" name="Image 3" descr="icons/emai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389" y="4756709"/>
            <a:ext cx="499262" cy="49926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680960" y="440740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9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Notificações automáticas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7680960" y="48463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ao cliente sobre o estado da encomenda.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6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3208" y="1188720"/>
            <a:ext cx="1371600" cy="1371600"/>
          </a:xfrm>
          <a:prstGeom prst="ellipse">
            <a:avLst/>
          </a:prstGeom>
          <a:solidFill>
            <a:srgbClr val="FFC65C"/>
          </a:solidFill>
          <a:ln/>
        </p:spPr>
      </p:sp>
      <p:pic>
        <p:nvPicPr>
          <p:cNvPr id="3" name="Image 0" descr="icons/conclusao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6108" y="1531620"/>
            <a:ext cx="68580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288036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problema real à solução funcional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219456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Next Point substitui a gestão informal por WhatsApp por uma loja virtual testada, organizada em camadas e pronta para crescer.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50292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6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62636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Flávio Saldanha  ·  Next Point  ·  UFCD 5425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2026-09-07T11:03:23Z</dcterms:created>
  <dcterms:modified xsi:type="dcterms:W3CDTF">2026-09-07T11:03:23Z</dcterms:modified>
</cp:coreProperties>
</file>